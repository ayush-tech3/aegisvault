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300">
                <a:solidFill>
                  <a:srgbClr val="38BDF8"/>
                </a:solidFill>
              </a:defRPr>
            </a:pPr>
            <a:r>
              <a:t>MIDNIGHT NETWORK • MONTHLY MOONSHOTS</a:t>
            </a:r>
          </a:p>
          <a:p>
            <a:pPr>
              <a:spcAft>
                <a:spcPts val="800"/>
              </a:spcAft>
              <a:defRPr b="1" sz="4800">
                <a:solidFill>
                  <a:srgbClr val="FFFFFF"/>
                </a:solidFill>
              </a:defRPr>
            </a:pPr>
            <a:r>
              <a:t>AegisVault</a:t>
            </a:r>
          </a:p>
          <a:p>
            <a:pPr>
              <a:spcAft>
                <a:spcPts val="2400"/>
              </a:spcAft>
              <a:defRPr sz="2000">
                <a:solidFill>
                  <a:srgbClr val="818CF8"/>
                </a:solidFill>
              </a:defRPr>
            </a:pPr>
            <a:r>
              <a:t>Institutional Zero-Knowledge RWA Collateral &amp; Selective Compliance Protocol</a:t>
            </a:r>
          </a:p>
          <a:p>
            <a:pPr>
              <a:spcAft>
                <a:spcPts val="1400"/>
              </a:spcAft>
              <a:defRPr sz="1300">
                <a:solidFill>
                  <a:srgbClr val="94A3B8"/>
                </a:solidFill>
              </a:defRPr>
            </a:pPr>
            <a:r>
              <a:t>Built on Midnight Compact v0.19 Smart Contracts • BLS12-381 ZK-SNARKs • Rational Privacy</a:t>
            </a:r>
          </a:p>
          <a:p>
            <a:pPr>
              <a:defRPr sz="1100">
                <a:solidFill>
                  <a:srgbClr val="34D399"/>
                </a:solidFill>
              </a:defRPr>
            </a:pPr>
            <a:r>
              <a:t>Live DApp: https://aegisvalutmoonlight.netlify.app/  •  GitHub: https://github.com/ayush-tech3/AegisVault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MARKET DILEMMA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Why Traditional Blockchains Fail for Institutional Lending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01. Balance Sheet Exposure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Transparent blockchains (Ethereum/Solana) reveal exact wallet holdings, loan thresholds, and liquidation points to competitors and MEV bots.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02. Regulatory Non-Compliance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Institutions are caught in a dilemma: total public transparency violates confidentiality, while total opacity (Tornado Cash) violates AML/KYC securities laws.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B71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03. Double-Collateralization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Traditional privacy protocols lack verifiable mathematical invariants to prevent double-pledging the same asset without exposing borrower identity.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THE AEGISVAULT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Institutional Zero-Knowledge RWA Lending on Midnight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✓ Shielded RWA Vaults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Deposit US T-Bills, Corporate Bonds, and Real Estate Equity into one-way cryptographic commitments (Hash). No dollar balance leaked.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✓ ZK 150% Over-Collateralization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Mathematically proves collateral ratio &gt;= 150% client-side via Compact circuits without disclosing underlying asset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0" y="1828800"/>
            <a:ext cx="3383280" cy="411480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011680"/>
            <a:ext cx="30175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b="1" sz="1800">
                <a:solidFill>
                  <a:srgbClr val="FFFFFF"/>
                </a:solidFill>
              </a:defRPr>
            </a:pPr>
            <a:r>
              <a:t>✓ Anti-Double-Borrow Nullifiers</a:t>
            </a:r>
          </a:p>
          <a:p>
            <a:pPr>
              <a:lnSpc>
                <a:spcPct val="130000"/>
              </a:lnSpc>
              <a:defRPr sz="1300">
                <a:solidFill>
                  <a:srgbClr val="94A3B8"/>
                </a:solidFill>
              </a:defRPr>
            </a:pPr>
            <a:r>
              <a:t>Deterministic single-use nullifiers guarantee collateral cannot be reused across loans, preserving 100% unlinkability.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CRYPTOGRAPHIC SEPARATION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Public Ledger State vs. Private Witness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38BDF8"/>
                </a:solidFill>
              </a:defRPr>
            </a:pPr>
            <a:r>
              <a:t>Public Ledger (On-Chain / Midnight Preprod)</a:t>
            </a:r>
          </a:p>
          <a:p>
            <a:pPr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• collateralCommitments: Map&lt;Bytes[32], Commitment&gt;</a:t>
            </a:r>
            <a:br/>
            <a:r>
              <a:t>• spentNullifiers: Set&lt;Bytes[32]&gt; (Anti-Double-Borrow)</a:t>
            </a:r>
            <a:br/>
            <a:r>
              <a:t>• activeLoans: Map&lt;String, LoanRecord&gt; (Principal, Status)</a:t>
            </a:r>
            <a:br/>
            <a:r>
              <a:t>• auditorDisclosures: Map&lt;String, AuditRecord&gt;</a:t>
            </a:r>
            <a:br/>
            <a:r>
              <a:t>• totalProtocolBorrowed: Uint&lt;64&gt; (Aggregate Debt)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73736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600">
                <a:solidFill>
                  <a:srgbClr val="818CF8"/>
                </a:solidFill>
              </a:defRPr>
            </a:pPr>
            <a:r>
              <a:t>Private Witness (Local Browser / Lace Wallet Only)</a:t>
            </a:r>
          </a:p>
          <a:p>
            <a:pPr>
              <a:lnSpc>
                <a:spcPct val="140000"/>
              </a:lnSpc>
              <a:defRPr sz="1300">
                <a:solidFill>
                  <a:srgbClr val="FFFFFF"/>
                </a:solidFill>
              </a:defRPr>
            </a:pPr>
            <a:r>
              <a:t>• borrowerSecret: Bytes[32] (Private key derived in wallet)</a:t>
            </a:r>
            <a:br/>
            <a:r>
              <a:t>• collateralValueUSD: Uint&lt;64&gt; (Actual $ deposit, e.g. $2.5M)</a:t>
            </a:r>
            <a:br/>
            <a:r>
              <a:t>• assetType: Uint&lt;8&gt; (T-Bills, AAA Corporate Notes, Real Estate)</a:t>
            </a:r>
            <a:br/>
            <a:r>
              <a:t>• salt: Bytes[32] (Cryptographic entropy for hiding)</a:t>
            </a:r>
            <a:br/>
            <a:r>
              <a:t>• merkleProof: Vector&lt;Bytes[32], 16&gt; (KYC Whitelist Path)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RATIONAL PRIVACY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Selective Compliance &amp; Regulatory Viewing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800">
                <a:solidFill>
                  <a:srgbClr val="34D399"/>
                </a:solidFill>
              </a:defRPr>
            </a:pPr>
            <a:r>
              <a:t>Midnight's Programmable Disclosure Circuit: grantAuditorDisclosure</a:t>
            </a:r>
          </a:p>
          <a:p>
            <a:pPr>
              <a:lnSpc>
                <a:spcPct val="140000"/>
              </a:lnSpc>
              <a:defRPr sz="1400">
                <a:solidFill>
                  <a:srgbClr val="94A3B8"/>
                </a:solidFill>
              </a:defRPr>
            </a:pPr>
            <a:r>
              <a:t>1. Asymmetric Encryption for Regulators: Borrowers can generate a viewing key derived from their shielded witness encrypted exclusively for an authorized regulator (SEC, FINRA, ESMA, MiCA).</a:t>
            </a:r>
            <a:br/>
            <a:br/>
            <a:r>
              <a:t>2. Granular Audit Scope: The regulator can decrypt only the specific loan's collateralization audit report without gaining access to other loans or the borrower's private key.</a:t>
            </a:r>
            <a:br/>
            <a:br/>
            <a:r>
              <a:t>3. Zero Public Blockchain Exposure: Third-party observers see only an on-chain disclosure record with an encrypted payload that is mathematically undecryptable without the regulator's private key.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100">
                <a:solidFill>
                  <a:srgbClr val="38BDF8"/>
                </a:solidFill>
              </a:defRPr>
            </a:pPr>
            <a:r>
              <a:t>SUBMISSION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600">
                <a:solidFill>
                  <a:srgbClr val="FFFFFF"/>
                </a:solidFill>
              </a:defRPr>
            </a:pPr>
            <a:r>
              <a:t>AegisVault Verification &amp; Production Deliverables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Compact Smart Contract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contract/src/index.compact (4 Circuits: Deposit, Borrow, Repay, Audit)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73736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82880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Preprod Deployment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Contract 0x4e8a...1928 Live on Midnight Preprod Testnet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461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Automated Test Suite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8/8 Unit Tests Passing (Constraint checks, double-borrow, KYC)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3246120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3337560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Live Production DApp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https://aegisvalutmoonlight.netlify.app/ (Mobile &amp; Desktop)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754879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84631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Security Audit Report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SECURITY_AUDIT_REPORT.md (100% Passed, 0 Vulnerabilities)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754879"/>
            <a:ext cx="5212080" cy="128016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818C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4846319"/>
            <a:ext cx="49377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b="1" sz="1400">
                <a:solidFill>
                  <a:srgbClr val="FFFFFF"/>
                </a:solidFill>
              </a:defRPr>
            </a:pPr>
            <a:r>
              <a:t>✓ Video Walkthrough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https://youtu.be/GK1J3Dq58_8 (1080p Video Demo on YouTube)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